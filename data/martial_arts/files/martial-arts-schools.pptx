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31cb0a0fa54a87" /><Relationship Type="http://schemas.openxmlformats.org/officeDocument/2006/relationships/extended-properties" Target="/docProps/app.xml" Id="R9b07b11b38ee48a8" /><Relationship Type="http://schemas.openxmlformats.org/officeDocument/2006/relationships/officeDocument" Target="/ppt/presentation.xml" Id="R4e3221830cde477c" /></Relationships>
</file>

<file path=ppt/presentation.xml><?xml version="1.0" encoding="utf-8"?>
<p:presentation xmlns:p="http://schemas.openxmlformats.org/presentationml/2006/main">
  <p:sldMasterIdLst>
    <p:sldMasterId xmlns:r="http://schemas.openxmlformats.org/officeDocument/2006/relationships" id="2147483648" r:id="R1e355d18f47c4bc6"/>
  </p:sldMasterIdLst>
  <p:notesMasterIdLst>
    <p:notesMasterId xmlns:r="http://schemas.openxmlformats.org/officeDocument/2006/relationships" r:id="Rb1b2c76d809d45d8"/>
  </p:notesMasterIdLst>
  <p:sldIdLst>
    <p:sldId xmlns:r="http://schemas.openxmlformats.org/officeDocument/2006/relationships" id="256" r:id="R4d64a3111eab4570"/>
    <p:sldId xmlns:r="http://schemas.openxmlformats.org/officeDocument/2006/relationships" id="257" r:id="Rea471c8251cf4bd3"/>
    <p:sldId xmlns:r="http://schemas.openxmlformats.org/officeDocument/2006/relationships" id="258" r:id="R1e67230140ed4a47"/>
    <p:sldId xmlns:r="http://schemas.openxmlformats.org/officeDocument/2006/relationships" id="259" r:id="Rad43fdbd9e65496b"/>
    <p:sldId xmlns:r="http://schemas.openxmlformats.org/officeDocument/2006/relationships" id="260" r:id="R135440ea628a430c"/>
    <p:sldId xmlns:r="http://schemas.openxmlformats.org/officeDocument/2006/relationships" id="261" r:id="Rf859b6cb664c4555"/>
    <p:sldId xmlns:r="http://schemas.openxmlformats.org/officeDocument/2006/relationships" id="262" r:id="R6d8d91b905ef4ab8"/>
    <p:sldId xmlns:r="http://schemas.openxmlformats.org/officeDocument/2006/relationships" id="263" r:id="R0bd3cbc343214b21"/>
    <p:sldId xmlns:r="http://schemas.openxmlformats.org/officeDocument/2006/relationships" id="264" r:id="Rc5c4a113d82e4f89"/>
    <p:sldId xmlns:r="http://schemas.openxmlformats.org/officeDocument/2006/relationships" id="265" r:id="Rd639759cceaf465e"/>
    <p:sldId xmlns:r="http://schemas.openxmlformats.org/officeDocument/2006/relationships" id="266" r:id="R8e63e49ec3584af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efe20fda244a07" /><Relationship Type="http://schemas.openxmlformats.org/officeDocument/2006/relationships/slideMaster" Target="/ppt/slideMasters/slideMaster1.xml" Id="R1e355d18f47c4bc6" /><Relationship Type="http://schemas.openxmlformats.org/officeDocument/2006/relationships/notesMaster" Target="/ppt/notesMasters/notesMaster1.xml" Id="Rb1b2c76d809d45d8" /><Relationship Type="http://schemas.openxmlformats.org/officeDocument/2006/relationships/presProps" Target="/ppt/presProps.xml" Id="R104fdc575f6a40ae" /><Relationship Type="http://schemas.openxmlformats.org/officeDocument/2006/relationships/tableStyles" Target="/ppt/tableStyles.xml" Id="R0bc05275af074f00" /><Relationship Type="http://schemas.openxmlformats.org/officeDocument/2006/relationships/slide" Target="/ppt/slides/slide1.xml" Id="R4d64a3111eab4570" /><Relationship Type="http://schemas.openxmlformats.org/officeDocument/2006/relationships/slide" Target="/ppt/slides/slide2.xml" Id="Rea471c8251cf4bd3" /><Relationship Type="http://schemas.openxmlformats.org/officeDocument/2006/relationships/slide" Target="/ppt/slides/slide3.xml" Id="R1e67230140ed4a47" /><Relationship Type="http://schemas.openxmlformats.org/officeDocument/2006/relationships/slide" Target="/ppt/slides/slide4.xml" Id="Rad43fdbd9e65496b" /><Relationship Type="http://schemas.openxmlformats.org/officeDocument/2006/relationships/slide" Target="/ppt/slides/slide5.xml" Id="R135440ea628a430c" /><Relationship Type="http://schemas.openxmlformats.org/officeDocument/2006/relationships/slide" Target="/ppt/slides/slide6.xml" Id="Rf859b6cb664c4555" /><Relationship Type="http://schemas.openxmlformats.org/officeDocument/2006/relationships/slide" Target="/ppt/slides/slide7.xml" Id="R6d8d91b905ef4ab8" /><Relationship Type="http://schemas.openxmlformats.org/officeDocument/2006/relationships/slide" Target="/ppt/slides/slide8.xml" Id="R0bd3cbc343214b21" /><Relationship Type="http://schemas.openxmlformats.org/officeDocument/2006/relationships/slide" Target="/ppt/slides/slide9.xml" Id="Rc5c4a113d82e4f89" /><Relationship Type="http://schemas.openxmlformats.org/officeDocument/2006/relationships/slide" Target="/ppt/slides/slide10.xml" Id="Rd639759cceaf465e" /><Relationship Type="http://schemas.openxmlformats.org/officeDocument/2006/relationships/slide" Target="/ppt/slides/slide11.xml" Id="R8e63e49ec3584a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3af1b24ca247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c034574c4e41b6" /><Relationship Type="http://schemas.openxmlformats.org/officeDocument/2006/relationships/notesMaster" Target="/ppt/notesMasters/notesMaster1.xml" Id="R832ca4921da842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36c6f8c0104786" /><Relationship Type="http://schemas.openxmlformats.org/officeDocument/2006/relationships/notesMaster" Target="/ppt/notesMasters/notesMaster1.xml" Id="Rdbc87016d97d4f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3ad999ca314fac" /><Relationship Type="http://schemas.openxmlformats.org/officeDocument/2006/relationships/notesMaster" Target="/ppt/notesMasters/notesMaster1.xml" Id="R968e84b12bd543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afcd57a7494aaa" /><Relationship Type="http://schemas.openxmlformats.org/officeDocument/2006/relationships/notesMaster" Target="/ppt/notesMasters/notesMaster1.xml" Id="R30346142382e43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67f9561fff412c" /><Relationship Type="http://schemas.openxmlformats.org/officeDocument/2006/relationships/notesMaster" Target="/ppt/notesMasters/notesMaster1.xml" Id="Re967c2037ee74a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70f6b5e65a45b5" /><Relationship Type="http://schemas.openxmlformats.org/officeDocument/2006/relationships/notesMaster" Target="/ppt/notesMasters/notesMaster1.xml" Id="R346dc3ce01ee44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e1809d47ce4971" /><Relationship Type="http://schemas.openxmlformats.org/officeDocument/2006/relationships/notesMaster" Target="/ppt/notesMasters/notesMaster1.xml" Id="R8b9e3440c77c4c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bf440364c04ecf" /><Relationship Type="http://schemas.openxmlformats.org/officeDocument/2006/relationships/notesMaster" Target="/ppt/notesMasters/notesMaster1.xml" Id="Ref43131ef15d4d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31f9d5eb544246" /><Relationship Type="http://schemas.openxmlformats.org/officeDocument/2006/relationships/notesMaster" Target="/ppt/notesMasters/notesMaster1.xml" Id="Rc673a28548a445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458310adb14545" /><Relationship Type="http://schemas.openxmlformats.org/officeDocument/2006/relationships/notesMaster" Target="/ppt/notesMasters/notesMaster1.xml" Id="R9fd597b9209042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75e35721604629" /><Relationship Type="http://schemas.openxmlformats.org/officeDocument/2006/relationships/notesMaster" Target="/ppt/notesMasters/notesMaster1.xml" Id="R1b7788f1684e42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14205e116d4c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973858e14840e9" /><Relationship Type="http://schemas.openxmlformats.org/officeDocument/2006/relationships/slideLayout" Target="/ppt/slideLayouts/slideLayout1.xml" Id="R236535a7c7d54c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6535a7c7d54c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157994ec564332" /><Relationship Type="http://schemas.openxmlformats.org/officeDocument/2006/relationships/notesSlide" Target="/ppt/notesSlides/notesSlide1.xml" Id="R0568a5e8444e45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67365897be47ef" /><Relationship Type="http://schemas.openxmlformats.org/officeDocument/2006/relationships/notesSlide" Target="/ppt/notesSlides/notesSlide2.xml" Id="Rc35d02b5ed7c47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9cb1db84d044b6" /><Relationship Type="http://schemas.openxmlformats.org/officeDocument/2006/relationships/notesSlide" Target="/ppt/notesSlides/notesSlide3.xml" Id="Rbd772fff6d874e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45c911fa224083" /><Relationship Type="http://schemas.openxmlformats.org/officeDocument/2006/relationships/notesSlide" Target="/ppt/notesSlides/notesSlide4.xml" Id="R23aabb8ed0ef4d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517e4571af4707" /><Relationship Type="http://schemas.openxmlformats.org/officeDocument/2006/relationships/notesSlide" Target="/ppt/notesSlides/notesSlide5.xml" Id="Re7fac216336b44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c47bfdabf94eea" /><Relationship Type="http://schemas.openxmlformats.org/officeDocument/2006/relationships/notesSlide" Target="/ppt/notesSlides/notesSlide6.xml" Id="R151732340ffe4e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f1e55850a545b3" /><Relationship Type="http://schemas.openxmlformats.org/officeDocument/2006/relationships/notesSlide" Target="/ppt/notesSlides/notesSlide7.xml" Id="Rc6b2152e5a9445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b5ec348ce14391" /><Relationship Type="http://schemas.openxmlformats.org/officeDocument/2006/relationships/notesSlide" Target="/ppt/notesSlides/notesSlide8.xml" Id="R8b3b77627c4643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a1022186a5457f" /><Relationship Type="http://schemas.openxmlformats.org/officeDocument/2006/relationships/notesSlide" Target="/ppt/notesSlides/notesSlide9.xml" Id="Re9aadd076aff48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ab1aac5e3c47d6" /><Relationship Type="http://schemas.openxmlformats.org/officeDocument/2006/relationships/notesSlide" Target="/ppt/notesSlides/notesSlide10.xml" Id="R82a79f5acc5941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3076aa9f73a4bfe" /><Relationship Type="http://schemas.openxmlformats.org/officeDocument/2006/relationships/notesSlide" Target="/ppt/notesSlides/notesSlide11.xml" Id="Raacaf0830f7147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718EDB-AE50-43C7-9F2B-7CE93BBB606D}"/>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15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BA6B6B-B29A-46FE-9C32-4535090FA5AC}"/>
              </a:ext>
            </a:extLst>
          </p:cNvPr>
          <p:cNvSpPr>
            <a:spLocks xmlns:a="http://schemas.openxmlformats.org/drawingml/2006/main" noGrp="1"/>
          </p:cNvSpPr>
          <p:nvPr/>
        </p:nvSpPr>
        <p:spPr>
          <a:xfrm xmlns:a="http://schemas.openxmlformats.org/drawingml/2006/main">
            <a:off x="666750" y="952500"/>
            <a:ext cx="2714625"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05000"/>
              </a:lnSpc>
              <a:buNone/>
              <a:defRPr sz="2850" b="1">
                <a:solidFill>
                  <a:srgbClr val="FFFFFF"/>
                </a:solidFill>
              </a:defRPr>
            </a:pPr>
            <a:r>
              <a:rPr sz="2850" b="1">
                <a:solidFill>
                  <a:srgbClr val="FFFFFF"/>
                </a:solidFill>
              </a:rPr>
              <a:t>INSTITUTIONS</a:t>
            </a:r>
          </a:p>
          <a:p xmlns:a="http://schemas.openxmlformats.org/drawingml/2006/main">
            <a:pPr>
              <a:lnSpc>
                <a:spcPct val="105000"/>
              </a:lnSpc>
              <a:buNone/>
              <a:defRPr sz="2850" b="1">
                <a:solidFill>
                  <a:srgbClr val="FFFFFF"/>
                </a:solidFill>
              </a:defRPr>
            </a:pPr>
            <a:r>
              <a:rPr sz="2850" b="1">
                <a:solidFill>
                  <a:srgbClr val="FFFFFF"/>
                </a:solidFill>
              </a:rPr>
              <a:t>MAKE PRACTICE</a:t>
            </a:r>
          </a:p>
          <a:p xmlns:a="http://schemas.openxmlformats.org/drawingml/2006/main">
            <a:pPr>
              <a:lnSpc>
                <a:spcPct val="105000"/>
              </a:lnSpc>
              <a:buNone/>
              <a:defRPr sz="2850" b="1">
                <a:solidFill>
                  <a:srgbClr val="FFFFFF"/>
                </a:solidFill>
              </a:defRPr>
            </a:pPr>
            <a:r>
              <a:rPr sz="2850" b="1">
                <a:solidFill>
                  <a:srgbClr val="FFFFFF"/>
                </a:solidFill>
              </a:rPr>
              <a:t>PORTABLE</a:t>
            </a:r>
          </a:p>
        </p:txBody>
      </p:sp>
      <p:sp>
        <p:nvSpPr>
          <p:cNvPr id="3" name="">
            <a:extLst xmlns:a="http://schemas.openxmlformats.org/drawingml/2006/main">
              <a:ext uri="{FF2B5EF4-FFF2-40B4-BE49-F238E27FC236}">
                <a16:creationId xmlns:a16="http://schemas.microsoft.com/office/drawing/2014/main" id="{DC9FCC39-B98F-4550-9047-5E87999B7CD4}"/>
              </a:ext>
            </a:extLst>
          </p:cNvPr>
          <p:cNvSpPr>
            <a:spLocks xmlns:a="http://schemas.openxmlformats.org/drawingml/2006/main" noGrp="1"/>
          </p:cNvSpPr>
          <p:nvPr/>
        </p:nvSpPr>
        <p:spPr>
          <a:xfrm xmlns:a="http://schemas.openxmlformats.org/drawingml/2006/main">
            <a:off x="4762500" y="1314450"/>
            <a:ext cx="6286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15212B"/>
                </a:solidFill>
              </a:defRPr>
            </a:pPr>
            <a:r>
              <a:rPr sz="4200" b="1">
                <a:solidFill>
                  <a:srgbClr val="15212B"/>
                </a:solidFill>
              </a:rPr>
              <a:t>Schools, Ranks, and Written Curricula</a:t>
            </a:r>
          </a:p>
        </p:txBody>
      </p:sp>
      <p:sp>
        <p:nvSpPr>
          <p:cNvPr id="4" name="">
            <a:extLst xmlns:a="http://schemas.openxmlformats.org/drawingml/2006/main">
              <a:ext uri="{FF2B5EF4-FFF2-40B4-BE49-F238E27FC236}">
                <a16:creationId xmlns:a16="http://schemas.microsoft.com/office/drawing/2014/main" id="{1C8916A8-FB79-409F-BD4A-6C9557F34D27}"/>
              </a:ext>
            </a:extLst>
          </p:cNvPr>
          <p:cNvSpPr>
            <a:spLocks xmlns:a="http://schemas.openxmlformats.org/drawingml/2006/main" noGrp="1"/>
          </p:cNvSpPr>
          <p:nvPr/>
        </p:nvSpPr>
        <p:spPr>
          <a:xfrm xmlns:a="http://schemas.openxmlformats.org/drawingml/2006/main">
            <a:off x="4810125" y="3257550"/>
            <a:ext cx="561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a:solidFill>
                  <a:srgbClr val="5D6B78"/>
                </a:solidFill>
              </a:defRPr>
            </a:pPr>
            <a:r>
              <a:rPr sz="1875">
                <a:solidFill>
                  <a:srgbClr val="5D6B78"/>
                </a:solidFill>
              </a:rPr>
              <a:t>Institutional tools that make practice repeatable</a:t>
            </a:r>
          </a:p>
        </p:txBody>
      </p:sp>
      <p:sp>
        <p:nvSpPr>
          <p:cNvPr id="5" name="">
            <a:extLst xmlns:a="http://schemas.openxmlformats.org/drawingml/2006/main">
              <a:ext uri="{FF2B5EF4-FFF2-40B4-BE49-F238E27FC236}">
                <a16:creationId xmlns:a16="http://schemas.microsoft.com/office/drawing/2014/main" id="{20517744-AEF3-4126-93E2-938CE6695758}"/>
              </a:ext>
            </a:extLst>
          </p:cNvPr>
          <p:cNvSpPr>
            <a:spLocks xmlns:a="http://schemas.openxmlformats.org/drawingml/2006/main" noGrp="1"/>
          </p:cNvSpPr>
          <p:nvPr/>
        </p:nvSpPr>
        <p:spPr>
          <a:xfrm xmlns:a="http://schemas.openxmlformats.org/drawingml/2006/main">
            <a:off x="4810125" y="55054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5D6B78"/>
                </a:solidFill>
              </a:defRPr>
            </a:pPr>
            <a:r>
              <a:rPr sz="1125">
                <a:solidFill>
                  <a:srgbClr val="5D6B78"/>
                </a:solidFill>
              </a:rPr>
              <a:t>Original CC0 benchmark corpus</a:t>
            </a:r>
          </a:p>
        </p:txBody>
      </p:sp>
    </p:spTree>
    <p:extLst>
      <p:ext uri="{BB962C8B-B14F-4D97-AF65-F5344CB8AC3E}">
        <p14:creationId xmlns:p14="http://schemas.microsoft.com/office/powerpoint/2010/main" val="13903949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5A58A5-9A53-42C9-B7F6-B9901E8E119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B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D8DB51-BAC9-4744-B8DB-136B26E39EAF}"/>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0888EC29-6FE7-4BC2-B56D-646D4A00DC77}"/>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02</a:t>
            </a:r>
          </a:p>
        </p:txBody>
      </p:sp>
      <p:sp>
        <p:nvSpPr>
          <p:cNvPr id="4" name="">
            <a:extLst xmlns:a="http://schemas.openxmlformats.org/drawingml/2006/main">
              <a:ext uri="{FF2B5EF4-FFF2-40B4-BE49-F238E27FC236}">
                <a16:creationId xmlns:a16="http://schemas.microsoft.com/office/drawing/2014/main" id="{AE89C294-32F1-46A4-9B3A-9965BFDAF04B}"/>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B7A78"/>
                </a:solidFill>
              </a:defRPr>
            </a:pPr>
            <a:r>
              <a:rPr sz="1050" b="1">
                <a:solidFill>
                  <a:srgbClr val="2B7A78"/>
                </a:solidFill>
              </a:rPr>
              <a:t>SECTION 01</a:t>
            </a:r>
          </a:p>
        </p:txBody>
      </p:sp>
      <p:sp>
        <p:nvSpPr>
          <p:cNvPr id="5" name="">
            <a:extLst xmlns:a="http://schemas.openxmlformats.org/drawingml/2006/main">
              <a:ext uri="{FF2B5EF4-FFF2-40B4-BE49-F238E27FC236}">
                <a16:creationId xmlns:a16="http://schemas.microsoft.com/office/drawing/2014/main" id="{937F76C2-1860-42A9-91DB-FFDD3A4AB4F0}"/>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A school becomes an institution</a:t>
            </a:r>
          </a:p>
        </p:txBody>
      </p:sp>
      <p:sp>
        <p:nvSpPr>
          <p:cNvPr id="6" name="">
            <a:extLst xmlns:a="http://schemas.openxmlformats.org/drawingml/2006/main">
              <a:ext uri="{FF2B5EF4-FFF2-40B4-BE49-F238E27FC236}">
                <a16:creationId xmlns:a16="http://schemas.microsoft.com/office/drawing/2014/main" id="{B4E670E6-BBE2-47C1-BECA-B37CDE889646}"/>
              </a:ext>
            </a:extLst>
          </p:cNvPr>
          <p:cNvSpPr>
            <a:spLocks xmlns:a="http://schemas.openxmlformats.org/drawingml/2006/main" noGrp="1"/>
          </p:cNvSpPr>
          <p:nvPr/>
        </p:nvSpPr>
        <p:spPr>
          <a:xfrm xmlns:a="http://schemas.openxmlformats.org/drawingml/2006/main">
            <a:off x="742950" y="1876425"/>
            <a:ext cx="9620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A school is more than the room where a class happens. It can hold a name, authorize teachers, preserve records, and coordinate expectations across generations. The Kodokan became especially important because Kano's educational project acquired a durable institutional center. Students could identify not only a teacher but also a community with shared terms, practices, and procedures.</a:t>
            </a:r>
          </a:p>
        </p:txBody>
      </p:sp>
    </p:spTree>
    <p:extLst>
      <p:ext uri="{BB962C8B-B14F-4D97-AF65-F5344CB8AC3E}">
        <p14:creationId xmlns:p14="http://schemas.microsoft.com/office/powerpoint/2010/main" val="10234151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2A1018-F3A1-4329-8C8D-538DB6B1AD2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B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FA0BB0-55BC-4840-A88F-610FEF64023F}"/>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B1886F74-A589-48BD-966A-437A9153DE91}"/>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03</a:t>
            </a:r>
          </a:p>
        </p:txBody>
      </p:sp>
      <p:sp>
        <p:nvSpPr>
          <p:cNvPr id="4" name="">
            <a:extLst xmlns:a="http://schemas.openxmlformats.org/drawingml/2006/main">
              <a:ext uri="{FF2B5EF4-FFF2-40B4-BE49-F238E27FC236}">
                <a16:creationId xmlns:a16="http://schemas.microsoft.com/office/drawing/2014/main" id="{7B973477-52BE-403C-9449-C005D3DEB5EF}"/>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B7A78"/>
                </a:solidFill>
              </a:defRPr>
            </a:pPr>
            <a:r>
              <a:rPr sz="1050" b="1">
                <a:solidFill>
                  <a:srgbClr val="2B7A78"/>
                </a:solidFill>
              </a:rPr>
              <a:t>SECTION 01</a:t>
            </a:r>
          </a:p>
        </p:txBody>
      </p:sp>
      <p:sp>
        <p:nvSpPr>
          <p:cNvPr id="5" name="">
            <a:extLst xmlns:a="http://schemas.openxmlformats.org/drawingml/2006/main">
              <a:ext uri="{FF2B5EF4-FFF2-40B4-BE49-F238E27FC236}">
                <a16:creationId xmlns:a16="http://schemas.microsoft.com/office/drawing/2014/main" id="{C6082E0A-FC4B-4518-B284-4CB9D3ECE625}"/>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A school becomes an institution</a:t>
            </a:r>
          </a:p>
        </p:txBody>
      </p:sp>
      <p:sp>
        <p:nvSpPr>
          <p:cNvPr id="6" name="">
            <a:extLst xmlns:a="http://schemas.openxmlformats.org/drawingml/2006/main">
              <a:ext uri="{FF2B5EF4-FFF2-40B4-BE49-F238E27FC236}">
                <a16:creationId xmlns:a16="http://schemas.microsoft.com/office/drawing/2014/main" id="{8E438FAF-A22D-4DE6-B0DF-0402EFDBEA7E}"/>
              </a:ext>
            </a:extLst>
          </p:cNvPr>
          <p:cNvSpPr>
            <a:spLocks xmlns:a="http://schemas.openxmlformats.org/drawingml/2006/main" noGrp="1"/>
          </p:cNvSpPr>
          <p:nvPr/>
        </p:nvSpPr>
        <p:spPr>
          <a:xfrm xmlns:a="http://schemas.openxmlformats.org/drawingml/2006/main">
            <a:off x="742950" y="1876425"/>
            <a:ext cx="6572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Place matters to this institutional story. Tokyo was a center of education, administration, and rapid social change when the Kodokan was established. Locating the school in the city gives the graph geographic precision without implying that judo remained local. The institution later supported a network that extended far beyond its original rooms and beyond Japan itself.</a:t>
            </a:r>
          </a:p>
        </p:txBody>
      </p:sp>
      <p:sp>
        <p:nvSpPr>
          <p:cNvPr id="7" name="">
            <a:extLst xmlns:a="http://schemas.openxmlformats.org/drawingml/2006/main">
              <a:ext uri="{FF2B5EF4-FFF2-40B4-BE49-F238E27FC236}">
                <a16:creationId xmlns:a16="http://schemas.microsoft.com/office/drawing/2014/main" id="{7B5DD919-C7D6-4EDB-B646-8CC9ED6EF21F}"/>
              </a:ext>
            </a:extLst>
          </p:cNvPr>
          <p:cNvSpPr>
            <a:spLocks xmlns:a="http://schemas.openxmlformats.org/drawingml/2006/main" noGrp="1"/>
          </p:cNvSpPr>
          <p:nvPr/>
        </p:nvSpPr>
        <p:spPr>
          <a:xfrm xmlns:a="http://schemas.openxmlformats.org/drawingml/2006/main">
            <a:off x="7753350" y="1885950"/>
            <a:ext cx="3714750" cy="3695700"/>
          </a:xfrm>
          <a:prstGeom xmlns:a="http://schemas.openxmlformats.org/drawingml/2006/main" prst="rect">
            <a:avLst/>
          </a:prstGeom>
          <a:solidFill xmlns:a="http://schemas.openxmlformats.org/drawingml/2006/main">
            <a:srgbClr val="EDF1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88272CE-1E5B-472A-BE7E-C68ACD9E98DE}"/>
              </a:ext>
            </a:extLst>
          </p:cNvPr>
          <p:cNvSpPr>
            <a:spLocks xmlns:a="http://schemas.openxmlformats.org/drawingml/2006/main" noGrp="1"/>
          </p:cNvSpPr>
          <p:nvPr/>
        </p:nvSpPr>
        <p:spPr>
          <a:xfrm xmlns:a="http://schemas.openxmlformats.org/drawingml/2006/main">
            <a:off x="8058150" y="2190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D6B78"/>
                </a:solidFill>
              </a:defRPr>
            </a:pPr>
            <a:r>
              <a:rPr sz="1050" b="1">
                <a:solidFill>
                  <a:srgbClr val="5D6B78"/>
                </a:solidFill>
              </a:rPr>
              <a:t>EVIDENCE ANCHORS</a:t>
            </a:r>
          </a:p>
        </p:txBody>
      </p:sp>
      <p:sp>
        <p:nvSpPr>
          <p:cNvPr id="9" name="">
            <a:extLst xmlns:a="http://schemas.openxmlformats.org/drawingml/2006/main">
              <a:ext uri="{FF2B5EF4-FFF2-40B4-BE49-F238E27FC236}">
                <a16:creationId xmlns:a16="http://schemas.microsoft.com/office/drawing/2014/main" id="{2A40D3C0-CB13-4BCB-BED4-CE5BA6457DBB}"/>
              </a:ext>
            </a:extLst>
          </p:cNvPr>
          <p:cNvSpPr>
            <a:spLocks xmlns:a="http://schemas.openxmlformats.org/drawingml/2006/main" noGrp="1"/>
          </p:cNvSpPr>
          <p:nvPr/>
        </p:nvSpPr>
        <p:spPr>
          <a:xfrm xmlns:a="http://schemas.openxmlformats.org/drawingml/2006/main">
            <a:off x="8058150" y="2647950"/>
            <a:ext cx="3048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5000"/>
              </a:lnSpc>
              <a:buNone/>
              <a:defRPr sz="1350">
                <a:solidFill>
                  <a:srgbClr val="15212B"/>
                </a:solidFill>
              </a:defRPr>
            </a:pPr>
            <a:r>
              <a:rPr sz="1350">
                <a:solidFill>
                  <a:srgbClr val="15212B"/>
                </a:solidFill>
              </a:rPr>
              <a:t>Jigoro Kano founded the Kodokan in Tokyo in 1882 as the institutional home of his educational project.</a:t>
            </a:r>
          </a:p>
          <a:p xmlns:a="http://schemas.openxmlformats.org/drawingml/2006/main">
            <a:r>
              <a:t/>
            </a:r>
          </a:p>
          <a:p xmlns:a="http://schemas.openxmlformats.org/drawingml/2006/main">
            <a:pPr>
              <a:lnSpc>
                <a:spcPct val="115000"/>
              </a:lnSpc>
              <a:buNone/>
              <a:defRPr sz="1350">
                <a:solidFill>
                  <a:srgbClr val="15212B"/>
                </a:solidFill>
              </a:defRPr>
            </a:pPr>
            <a:r>
              <a:rPr sz="1350">
                <a:solidFill>
                  <a:srgbClr val="15212B"/>
                </a:solidFill>
              </a:rPr>
              <a:t>The Kodokan was established in Tokyo and remains identified with that city.</a:t>
            </a:r>
          </a:p>
        </p:txBody>
      </p:sp>
    </p:spTree>
    <p:extLst>
      <p:ext uri="{BB962C8B-B14F-4D97-AF65-F5344CB8AC3E}">
        <p14:creationId xmlns:p14="http://schemas.microsoft.com/office/powerpoint/2010/main" val="1898544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94918A-6EA6-4C10-9423-F15E0C8DE3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190C41-27A4-4B2A-9786-C381F832E739}"/>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BEFA10C2-6780-4EB5-B2D9-9FA99287A556}"/>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04</a:t>
            </a:r>
          </a:p>
        </p:txBody>
      </p:sp>
      <p:sp>
        <p:nvSpPr>
          <p:cNvPr id="4" name="">
            <a:extLst xmlns:a="http://schemas.openxmlformats.org/drawingml/2006/main">
              <a:ext uri="{FF2B5EF4-FFF2-40B4-BE49-F238E27FC236}">
                <a16:creationId xmlns:a16="http://schemas.microsoft.com/office/drawing/2014/main" id="{A7CC032C-BB9E-48E8-B7F0-50048ACC2D1F}"/>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3D8DFF"/>
                </a:solidFill>
              </a:defRPr>
            </a:pPr>
            <a:r>
              <a:rPr sz="1050" b="1">
                <a:solidFill>
                  <a:srgbClr val="3D8DFF"/>
                </a:solidFill>
              </a:rPr>
              <a:t>SECTION 02</a:t>
            </a:r>
          </a:p>
        </p:txBody>
      </p:sp>
      <p:sp>
        <p:nvSpPr>
          <p:cNvPr id="5" name="">
            <a:extLst xmlns:a="http://schemas.openxmlformats.org/drawingml/2006/main">
              <a:ext uri="{FF2B5EF4-FFF2-40B4-BE49-F238E27FC236}">
                <a16:creationId xmlns:a16="http://schemas.microsoft.com/office/drawing/2014/main" id="{F68A350D-C367-474E-9257-7E66B9167465}"/>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Ranking as portable organization</a:t>
            </a:r>
          </a:p>
        </p:txBody>
      </p:sp>
      <p:sp>
        <p:nvSpPr>
          <p:cNvPr id="6" name="">
            <a:extLst xmlns:a="http://schemas.openxmlformats.org/drawingml/2006/main">
              <a:ext uri="{FF2B5EF4-FFF2-40B4-BE49-F238E27FC236}">
                <a16:creationId xmlns:a16="http://schemas.microsoft.com/office/drawing/2014/main" id="{4BEE8E3E-7B3D-41A7-B5AD-55C21A316AD9}"/>
              </a:ext>
            </a:extLst>
          </p:cNvPr>
          <p:cNvSpPr>
            <a:spLocks xmlns:a="http://schemas.openxmlformats.org/drawingml/2006/main" noGrp="1"/>
          </p:cNvSpPr>
          <p:nvPr/>
        </p:nvSpPr>
        <p:spPr>
          <a:xfrm xmlns:a="http://schemas.openxmlformats.org/drawingml/2006/main">
            <a:off x="742950" y="1876425"/>
            <a:ext cx="9620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Ranking systems make progress legible across classes, but they also simplify. A belt can indicate an assessed stage without describing a person's complete ability, teaching skill, or character. In judo, kyu and dan categories supplied a repeatable organizational structure that other modern arts later adapted in their own ways. The colors and requirements still vary among institutions.</a:t>
            </a:r>
          </a:p>
        </p:txBody>
      </p:sp>
    </p:spTree>
    <p:extLst>
      <p:ext uri="{BB962C8B-B14F-4D97-AF65-F5344CB8AC3E}">
        <p14:creationId xmlns:p14="http://schemas.microsoft.com/office/powerpoint/2010/main" val="13734712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11DA9F-949D-40E9-BAAC-2DB49E2443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70AFA0-1FB3-44D6-A56E-67EC7AEF4572}"/>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5475A0C4-0875-467A-A080-0BCAA8428035}"/>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05</a:t>
            </a:r>
          </a:p>
        </p:txBody>
      </p:sp>
      <p:sp>
        <p:nvSpPr>
          <p:cNvPr id="4" name="">
            <a:extLst xmlns:a="http://schemas.openxmlformats.org/drawingml/2006/main">
              <a:ext uri="{FF2B5EF4-FFF2-40B4-BE49-F238E27FC236}">
                <a16:creationId xmlns:a16="http://schemas.microsoft.com/office/drawing/2014/main" id="{43BD8FA4-4014-4844-BEE3-BF1236AAF52B}"/>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3D8DFF"/>
                </a:solidFill>
              </a:defRPr>
            </a:pPr>
            <a:r>
              <a:rPr sz="1050" b="1">
                <a:solidFill>
                  <a:srgbClr val="3D8DFF"/>
                </a:solidFill>
              </a:rPr>
              <a:t>SECTION 02</a:t>
            </a:r>
          </a:p>
        </p:txBody>
      </p:sp>
      <p:sp>
        <p:nvSpPr>
          <p:cNvPr id="5" name="">
            <a:extLst xmlns:a="http://schemas.openxmlformats.org/drawingml/2006/main">
              <a:ext uri="{FF2B5EF4-FFF2-40B4-BE49-F238E27FC236}">
                <a16:creationId xmlns:a16="http://schemas.microsoft.com/office/drawing/2014/main" id="{95443F09-FBEF-4ADF-BB00-9CC2396C61F1}"/>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Ranking as portable organization</a:t>
            </a:r>
          </a:p>
        </p:txBody>
      </p:sp>
      <p:sp>
        <p:nvSpPr>
          <p:cNvPr id="6" name="">
            <a:extLst xmlns:a="http://schemas.openxmlformats.org/drawingml/2006/main">
              <a:ext uri="{FF2B5EF4-FFF2-40B4-BE49-F238E27FC236}">
                <a16:creationId xmlns:a16="http://schemas.microsoft.com/office/drawing/2014/main" id="{B304A666-ED10-4EB0-B758-76CBC8498CDE}"/>
              </a:ext>
            </a:extLst>
          </p:cNvPr>
          <p:cNvSpPr>
            <a:spLocks xmlns:a="http://schemas.openxmlformats.org/drawingml/2006/main" noGrp="1"/>
          </p:cNvSpPr>
          <p:nvPr/>
        </p:nvSpPr>
        <p:spPr>
          <a:xfrm xmlns:a="http://schemas.openxmlformats.org/drawingml/2006/main">
            <a:off x="742950" y="1876425"/>
            <a:ext cx="6572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The benchmark treats belt ranking as a practice rather than an object. This choice captures examinations, promotion decisions, and the social recognition attached to rank. It also prevents extraction from inventing a separate entity for every colored belt mentioned in generated prose. The canonical relation remains narrow: judo includes the practice, while local rules determine its exact operation.</a:t>
            </a:r>
          </a:p>
        </p:txBody>
      </p:sp>
      <p:sp>
        <p:nvSpPr>
          <p:cNvPr id="7" name="">
            <a:extLst xmlns:a="http://schemas.openxmlformats.org/drawingml/2006/main">
              <a:ext uri="{FF2B5EF4-FFF2-40B4-BE49-F238E27FC236}">
                <a16:creationId xmlns:a16="http://schemas.microsoft.com/office/drawing/2014/main" id="{42C39776-567E-459F-A083-2E857F9290D9}"/>
              </a:ext>
            </a:extLst>
          </p:cNvPr>
          <p:cNvSpPr>
            <a:spLocks xmlns:a="http://schemas.openxmlformats.org/drawingml/2006/main" noGrp="1"/>
          </p:cNvSpPr>
          <p:nvPr/>
        </p:nvSpPr>
        <p:spPr>
          <a:xfrm xmlns:a="http://schemas.openxmlformats.org/drawingml/2006/main">
            <a:off x="7753350" y="1885950"/>
            <a:ext cx="3714750" cy="3695700"/>
          </a:xfrm>
          <a:prstGeom xmlns:a="http://schemas.openxmlformats.org/drawingml/2006/main" prst="rect">
            <a:avLst/>
          </a:prstGeom>
          <a:solidFill xmlns:a="http://schemas.openxmlformats.org/drawingml/2006/main">
            <a:srgbClr val="EDF1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C0D3AD-C13C-4426-8EDC-54C50E3D3E86}"/>
              </a:ext>
            </a:extLst>
          </p:cNvPr>
          <p:cNvSpPr>
            <a:spLocks xmlns:a="http://schemas.openxmlformats.org/drawingml/2006/main" noGrp="1"/>
          </p:cNvSpPr>
          <p:nvPr/>
        </p:nvSpPr>
        <p:spPr>
          <a:xfrm xmlns:a="http://schemas.openxmlformats.org/drawingml/2006/main">
            <a:off x="8058150" y="2190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D6B78"/>
                </a:solidFill>
              </a:defRPr>
            </a:pPr>
            <a:r>
              <a:rPr sz="1050" b="1">
                <a:solidFill>
                  <a:srgbClr val="5D6B78"/>
                </a:solidFill>
              </a:rPr>
              <a:t>EVIDENCE ANCHORS</a:t>
            </a:r>
          </a:p>
        </p:txBody>
      </p:sp>
      <p:sp>
        <p:nvSpPr>
          <p:cNvPr id="9" name="">
            <a:extLst xmlns:a="http://schemas.openxmlformats.org/drawingml/2006/main">
              <a:ext uri="{FF2B5EF4-FFF2-40B4-BE49-F238E27FC236}">
                <a16:creationId xmlns:a16="http://schemas.microsoft.com/office/drawing/2014/main" id="{C5308831-F599-4876-A2F7-2004BF2F2716}"/>
              </a:ext>
            </a:extLst>
          </p:cNvPr>
          <p:cNvSpPr>
            <a:spLocks xmlns:a="http://schemas.openxmlformats.org/drawingml/2006/main" noGrp="1"/>
          </p:cNvSpPr>
          <p:nvPr/>
        </p:nvSpPr>
        <p:spPr>
          <a:xfrm xmlns:a="http://schemas.openxmlformats.org/drawingml/2006/main">
            <a:off x="8058150" y="2647950"/>
            <a:ext cx="3048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5000"/>
              </a:lnSpc>
              <a:buNone/>
              <a:defRPr sz="1350">
                <a:solidFill>
                  <a:srgbClr val="15212B"/>
                </a:solidFill>
              </a:defRPr>
            </a:pPr>
            <a:r>
              <a:rPr sz="1350">
                <a:solidFill>
                  <a:srgbClr val="15212B"/>
                </a:solidFill>
              </a:rPr>
              <a:t>Judo uses belt ranking to mark stages within its kyu and dan progression.</a:t>
            </a:r>
          </a:p>
        </p:txBody>
      </p:sp>
    </p:spTree>
    <p:extLst>
      <p:ext uri="{BB962C8B-B14F-4D97-AF65-F5344CB8AC3E}">
        <p14:creationId xmlns:p14="http://schemas.microsoft.com/office/powerpoint/2010/main" val="18350268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16D641-3D26-4FDA-B728-11E4D336E4E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56A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11ADB8-0703-4F2C-868F-E681A7911770}"/>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D404BFCA-708C-4BAC-A4EA-50C7303EF035}"/>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06</a:t>
            </a:r>
          </a:p>
        </p:txBody>
      </p:sp>
      <p:sp>
        <p:nvSpPr>
          <p:cNvPr id="4" name="">
            <a:extLst xmlns:a="http://schemas.openxmlformats.org/drawingml/2006/main">
              <a:ext uri="{FF2B5EF4-FFF2-40B4-BE49-F238E27FC236}">
                <a16:creationId xmlns:a16="http://schemas.microsoft.com/office/drawing/2014/main" id="{FED06D2F-CBF8-494E-A1A5-C88FF9067EDA}"/>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A56A1C"/>
                </a:solidFill>
              </a:defRPr>
            </a:pPr>
            <a:r>
              <a:rPr sz="1050" b="1">
                <a:solidFill>
                  <a:srgbClr val="A56A1C"/>
                </a:solidFill>
              </a:rPr>
              <a:t>SECTION 03</a:t>
            </a:r>
          </a:p>
        </p:txBody>
      </p:sp>
      <p:sp>
        <p:nvSpPr>
          <p:cNvPr id="5" name="">
            <a:extLst xmlns:a="http://schemas.openxmlformats.org/drawingml/2006/main">
              <a:ext uri="{FF2B5EF4-FFF2-40B4-BE49-F238E27FC236}">
                <a16:creationId xmlns:a16="http://schemas.microsoft.com/office/drawing/2014/main" id="{10078BBE-C8B6-4263-AEB2-8F2100E9BD32}"/>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Manuals extend a teacher's reach</a:t>
            </a:r>
          </a:p>
        </p:txBody>
      </p:sp>
      <p:sp>
        <p:nvSpPr>
          <p:cNvPr id="6" name="">
            <a:extLst xmlns:a="http://schemas.openxmlformats.org/drawingml/2006/main">
              <a:ext uri="{FF2B5EF4-FFF2-40B4-BE49-F238E27FC236}">
                <a16:creationId xmlns:a16="http://schemas.microsoft.com/office/drawing/2014/main" id="{70AF0034-221C-4DAB-AA6A-A88CFFAF486F}"/>
              </a:ext>
            </a:extLst>
          </p:cNvPr>
          <p:cNvSpPr>
            <a:spLocks xmlns:a="http://schemas.openxmlformats.org/drawingml/2006/main" noGrp="1"/>
          </p:cNvSpPr>
          <p:nvPr/>
        </p:nvSpPr>
        <p:spPr>
          <a:xfrm xmlns:a="http://schemas.openxmlformats.org/drawingml/2006/main">
            <a:off x="742950" y="1876425"/>
            <a:ext cx="9620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A written manual can travel where its author cannot. Photographs, diagrams, terminology, and ordered explanations let readers revisit a lesson outside class. They also freeze one edition of a changing practice. Historians therefore read manuals both as technical sources and as arguments about how an art should be understood at a particular time.</a:t>
            </a:r>
          </a:p>
        </p:txBody>
      </p:sp>
    </p:spTree>
    <p:extLst>
      <p:ext uri="{BB962C8B-B14F-4D97-AF65-F5344CB8AC3E}">
        <p14:creationId xmlns:p14="http://schemas.microsoft.com/office/powerpoint/2010/main" val="8665029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685022-9777-4FD1-B304-AC33855B641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56A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F06FB9-712E-4585-BFE7-4989A982FA77}"/>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5CCD9526-2B2F-4660-B552-90C7A9BB0AE1}"/>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07</a:t>
            </a:r>
          </a:p>
        </p:txBody>
      </p:sp>
      <p:sp>
        <p:nvSpPr>
          <p:cNvPr id="4" name="">
            <a:extLst xmlns:a="http://schemas.openxmlformats.org/drawingml/2006/main">
              <a:ext uri="{FF2B5EF4-FFF2-40B4-BE49-F238E27FC236}">
                <a16:creationId xmlns:a16="http://schemas.microsoft.com/office/drawing/2014/main" id="{9F66DEAA-F7D0-4AB0-9F63-9D6D58FFCE1C}"/>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A56A1C"/>
                </a:solidFill>
              </a:defRPr>
            </a:pPr>
            <a:r>
              <a:rPr sz="1050" b="1">
                <a:solidFill>
                  <a:srgbClr val="A56A1C"/>
                </a:solidFill>
              </a:rPr>
              <a:t>SECTION 03</a:t>
            </a:r>
          </a:p>
        </p:txBody>
      </p:sp>
      <p:sp>
        <p:nvSpPr>
          <p:cNvPr id="5" name="">
            <a:extLst xmlns:a="http://schemas.openxmlformats.org/drawingml/2006/main">
              <a:ext uri="{FF2B5EF4-FFF2-40B4-BE49-F238E27FC236}">
                <a16:creationId xmlns:a16="http://schemas.microsoft.com/office/drawing/2014/main" id="{D6B116E1-84B8-470F-AD2F-167AF800393F}"/>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Manuals extend a teacher's reach</a:t>
            </a:r>
          </a:p>
        </p:txBody>
      </p:sp>
      <p:sp>
        <p:nvSpPr>
          <p:cNvPr id="6" name="">
            <a:extLst xmlns:a="http://schemas.openxmlformats.org/drawingml/2006/main">
              <a:ext uri="{FF2B5EF4-FFF2-40B4-BE49-F238E27FC236}">
                <a16:creationId xmlns:a16="http://schemas.microsoft.com/office/drawing/2014/main" id="{97FB5EBA-F932-49DE-8C2D-D4D778D32F3C}"/>
              </a:ext>
            </a:extLst>
          </p:cNvPr>
          <p:cNvSpPr>
            <a:spLocks xmlns:a="http://schemas.openxmlformats.org/drawingml/2006/main" noGrp="1"/>
          </p:cNvSpPr>
          <p:nvPr/>
        </p:nvSpPr>
        <p:spPr>
          <a:xfrm xmlns:a="http://schemas.openxmlformats.org/drawingml/2006/main">
            <a:off x="742950" y="1876425"/>
            <a:ext cx="6572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Karate-do Kyohan served this dual function for Funakoshi's teaching. It documented a substantial curriculum and presented karate as suitable for systematic study. The work did not contain all Okinawan karate, nor did publication settle later debates among styles. Its graph value lies in the explicit relation among a named art, a named work, and a named author.</a:t>
            </a:r>
          </a:p>
        </p:txBody>
      </p:sp>
      <p:sp>
        <p:nvSpPr>
          <p:cNvPr id="7" name="">
            <a:extLst xmlns:a="http://schemas.openxmlformats.org/drawingml/2006/main">
              <a:ext uri="{FF2B5EF4-FFF2-40B4-BE49-F238E27FC236}">
                <a16:creationId xmlns:a16="http://schemas.microsoft.com/office/drawing/2014/main" id="{93BDEAD0-302C-4ADB-A604-83871857C5E8}"/>
              </a:ext>
            </a:extLst>
          </p:cNvPr>
          <p:cNvSpPr>
            <a:spLocks xmlns:a="http://schemas.openxmlformats.org/drawingml/2006/main" noGrp="1"/>
          </p:cNvSpPr>
          <p:nvPr/>
        </p:nvSpPr>
        <p:spPr>
          <a:xfrm xmlns:a="http://schemas.openxmlformats.org/drawingml/2006/main">
            <a:off x="7753350" y="1885950"/>
            <a:ext cx="3714750" cy="3695700"/>
          </a:xfrm>
          <a:prstGeom xmlns:a="http://schemas.openxmlformats.org/drawingml/2006/main" prst="rect">
            <a:avLst/>
          </a:prstGeom>
          <a:solidFill xmlns:a="http://schemas.openxmlformats.org/drawingml/2006/main">
            <a:srgbClr val="EDF1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BB9115-1F5C-488C-B20E-05BC46A880EE}"/>
              </a:ext>
            </a:extLst>
          </p:cNvPr>
          <p:cNvSpPr>
            <a:spLocks xmlns:a="http://schemas.openxmlformats.org/drawingml/2006/main" noGrp="1"/>
          </p:cNvSpPr>
          <p:nvPr/>
        </p:nvSpPr>
        <p:spPr>
          <a:xfrm xmlns:a="http://schemas.openxmlformats.org/drawingml/2006/main">
            <a:off x="8058150" y="2190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D6B78"/>
                </a:solidFill>
              </a:defRPr>
            </a:pPr>
            <a:r>
              <a:rPr sz="1050" b="1">
                <a:solidFill>
                  <a:srgbClr val="5D6B78"/>
                </a:solidFill>
              </a:rPr>
              <a:t>EVIDENCE ANCHORS</a:t>
            </a:r>
          </a:p>
        </p:txBody>
      </p:sp>
      <p:sp>
        <p:nvSpPr>
          <p:cNvPr id="9" name="">
            <a:extLst xmlns:a="http://schemas.openxmlformats.org/drawingml/2006/main">
              <a:ext uri="{FF2B5EF4-FFF2-40B4-BE49-F238E27FC236}">
                <a16:creationId xmlns:a16="http://schemas.microsoft.com/office/drawing/2014/main" id="{F7CA094B-77F7-42A1-A858-79F527204E16}"/>
              </a:ext>
            </a:extLst>
          </p:cNvPr>
          <p:cNvSpPr>
            <a:spLocks xmlns:a="http://schemas.openxmlformats.org/drawingml/2006/main" noGrp="1"/>
          </p:cNvSpPr>
          <p:nvPr/>
        </p:nvSpPr>
        <p:spPr>
          <a:xfrm xmlns:a="http://schemas.openxmlformats.org/drawingml/2006/main">
            <a:off x="8058150" y="2647950"/>
            <a:ext cx="3048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5000"/>
              </a:lnSpc>
              <a:buNone/>
              <a:defRPr sz="1350">
                <a:solidFill>
                  <a:srgbClr val="15212B"/>
                </a:solidFill>
              </a:defRPr>
            </a:pPr>
            <a:r>
              <a:rPr sz="1350">
                <a:solidFill>
                  <a:srgbClr val="15212B"/>
                </a:solidFill>
              </a:rPr>
              <a:t>Karate technique and pedagogy were documented in Karate-do Kyohan for an expanding reading public.</a:t>
            </a:r>
          </a:p>
          <a:p xmlns:a="http://schemas.openxmlformats.org/drawingml/2006/main">
            <a:r>
              <a:t/>
            </a:r>
          </a:p>
          <a:p xmlns:a="http://schemas.openxmlformats.org/drawingml/2006/main">
            <a:pPr>
              <a:lnSpc>
                <a:spcPct val="115000"/>
              </a:lnSpc>
              <a:buNone/>
              <a:defRPr sz="1350">
                <a:solidFill>
                  <a:srgbClr val="15212B"/>
                </a:solidFill>
              </a:defRPr>
            </a:pPr>
            <a:r>
              <a:rPr sz="1350">
                <a:solidFill>
                  <a:srgbClr val="15212B"/>
                </a:solidFill>
              </a:rPr>
              <a:t>Karate-do Kyohan was authored by Gichin Funakoshi as a systematic presentation of his karate teaching.</a:t>
            </a:r>
          </a:p>
        </p:txBody>
      </p:sp>
    </p:spTree>
    <p:extLst>
      <p:ext uri="{BB962C8B-B14F-4D97-AF65-F5344CB8AC3E}">
        <p14:creationId xmlns:p14="http://schemas.microsoft.com/office/powerpoint/2010/main" val="15181309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3BEAAB-0DE1-4CA7-8A89-05E8FEE0A4C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B4A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4D13CD-A2BE-4146-9DEC-A3C31E26909F}"/>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DF3E5319-2B34-413B-880E-551677BE778F}"/>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08</a:t>
            </a:r>
          </a:p>
        </p:txBody>
      </p:sp>
      <p:sp>
        <p:nvSpPr>
          <p:cNvPr id="4" name="">
            <a:extLst xmlns:a="http://schemas.openxmlformats.org/drawingml/2006/main">
              <a:ext uri="{FF2B5EF4-FFF2-40B4-BE49-F238E27FC236}">
                <a16:creationId xmlns:a16="http://schemas.microsoft.com/office/drawing/2014/main" id="{88C1684B-F31E-48D6-990D-BA5ACB37F67D}"/>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8B4A4A"/>
                </a:solidFill>
              </a:defRPr>
            </a:pPr>
            <a:r>
              <a:rPr sz="1050" b="1">
                <a:solidFill>
                  <a:srgbClr val="8B4A4A"/>
                </a:solidFill>
              </a:rPr>
              <a:t>SECTION 04</a:t>
            </a:r>
          </a:p>
        </p:txBody>
      </p:sp>
      <p:sp>
        <p:nvSpPr>
          <p:cNvPr id="5" name="">
            <a:extLst xmlns:a="http://schemas.openxmlformats.org/drawingml/2006/main">
              <a:ext uri="{FF2B5EF4-FFF2-40B4-BE49-F238E27FC236}">
                <a16:creationId xmlns:a16="http://schemas.microsoft.com/office/drawing/2014/main" id="{EEF70809-B8BA-4CEF-A2CA-0D9720C94467}"/>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Slides as a map of institutional memory</a:t>
            </a:r>
          </a:p>
        </p:txBody>
      </p:sp>
      <p:sp>
        <p:nvSpPr>
          <p:cNvPr id="6" name="">
            <a:extLst xmlns:a="http://schemas.openxmlformats.org/drawingml/2006/main">
              <a:ext uri="{FF2B5EF4-FFF2-40B4-BE49-F238E27FC236}">
                <a16:creationId xmlns:a16="http://schemas.microsoft.com/office/drawing/2014/main" id="{11A2F8EC-D6CB-40AB-B4C5-BCBA2286F07A}"/>
              </a:ext>
            </a:extLst>
          </p:cNvPr>
          <p:cNvSpPr>
            <a:spLocks xmlns:a="http://schemas.openxmlformats.org/drawingml/2006/main" noGrp="1"/>
          </p:cNvSpPr>
          <p:nvPr/>
        </p:nvSpPr>
        <p:spPr>
          <a:xfrm xmlns:a="http://schemas.openxmlformats.org/drawingml/2006/main">
            <a:off x="742950" y="1876425"/>
            <a:ext cx="9620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When this material is presented as slides, each section should function as a compact map rather than a proclamation. A founding date anchors the school, a location anchors the date, a ranking practice shows internal organization, and a manual shows communication beyond the school. The pieces explain one another without requiring an exclusive lineage claim.</a:t>
            </a:r>
          </a:p>
        </p:txBody>
      </p:sp>
    </p:spTree>
    <p:extLst>
      <p:ext uri="{BB962C8B-B14F-4D97-AF65-F5344CB8AC3E}">
        <p14:creationId xmlns:p14="http://schemas.microsoft.com/office/powerpoint/2010/main" val="12488988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D3AF40-A495-4380-B7E5-336D0A5B70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B4A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26C16-1C6E-45B9-9D12-D93475799E67}"/>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5FF5AC27-1F14-425E-96A4-C84175CB5C9D}"/>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09</a:t>
            </a:r>
          </a:p>
        </p:txBody>
      </p:sp>
      <p:sp>
        <p:nvSpPr>
          <p:cNvPr id="4" name="">
            <a:extLst xmlns:a="http://schemas.openxmlformats.org/drawingml/2006/main">
              <a:ext uri="{FF2B5EF4-FFF2-40B4-BE49-F238E27FC236}">
                <a16:creationId xmlns:a16="http://schemas.microsoft.com/office/drawing/2014/main" id="{9BF27BBB-AD4B-487E-B71B-BBFADF7BBA9A}"/>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8B4A4A"/>
                </a:solidFill>
              </a:defRPr>
            </a:pPr>
            <a:r>
              <a:rPr sz="1050" b="1">
                <a:solidFill>
                  <a:srgbClr val="8B4A4A"/>
                </a:solidFill>
              </a:rPr>
              <a:t>SECTION 04</a:t>
            </a:r>
          </a:p>
        </p:txBody>
      </p:sp>
      <p:sp>
        <p:nvSpPr>
          <p:cNvPr id="5" name="">
            <a:extLst xmlns:a="http://schemas.openxmlformats.org/drawingml/2006/main">
              <a:ext uri="{FF2B5EF4-FFF2-40B4-BE49-F238E27FC236}">
                <a16:creationId xmlns:a16="http://schemas.microsoft.com/office/drawing/2014/main" id="{F9E64FED-8D55-41C1-B239-A0307E17EA70}"/>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Slides as a map of institutional memory</a:t>
            </a:r>
          </a:p>
        </p:txBody>
      </p:sp>
      <p:sp>
        <p:nvSpPr>
          <p:cNvPr id="6" name="">
            <a:extLst xmlns:a="http://schemas.openxmlformats.org/drawingml/2006/main">
              <a:ext uri="{FF2B5EF4-FFF2-40B4-BE49-F238E27FC236}">
                <a16:creationId xmlns:a16="http://schemas.microsoft.com/office/drawing/2014/main" id="{F4028D26-CD1C-4895-9F55-5D721C0F2BE4}"/>
              </a:ext>
            </a:extLst>
          </p:cNvPr>
          <p:cNvSpPr>
            <a:spLocks xmlns:a="http://schemas.openxmlformats.org/drawingml/2006/main" noGrp="1"/>
          </p:cNvSpPr>
          <p:nvPr/>
        </p:nvSpPr>
        <p:spPr>
          <a:xfrm xmlns:a="http://schemas.openxmlformats.org/drawingml/2006/main">
            <a:off x="742950" y="1876425"/>
            <a:ext cx="9620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The same model can be used comparatively. Federations govern specified competitions, authors publish interpretations, and schools transmit routines. None of those roles is identical to originating an entire art. Keeping the predicates separate allows reviewers to challenge one claim without dissolving the rest of the graph. Institutional history becomes a set of testable statements instead of a heroic family tree.</a:t>
            </a:r>
          </a:p>
        </p:txBody>
      </p:sp>
    </p:spTree>
    <p:extLst>
      <p:ext uri="{BB962C8B-B14F-4D97-AF65-F5344CB8AC3E}">
        <p14:creationId xmlns:p14="http://schemas.microsoft.com/office/powerpoint/2010/main" val="10341207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C16DC8-4FBD-4545-89AF-8E5BAAB4248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B4A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1FFF16-FC6F-49BD-A26D-A38966F61F95}"/>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27B90FD2-F57F-407F-A1C0-5BA506B5D0B9}"/>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10</a:t>
            </a:r>
          </a:p>
        </p:txBody>
      </p:sp>
      <p:sp>
        <p:nvSpPr>
          <p:cNvPr id="4" name="">
            <a:extLst xmlns:a="http://schemas.openxmlformats.org/drawingml/2006/main">
              <a:ext uri="{FF2B5EF4-FFF2-40B4-BE49-F238E27FC236}">
                <a16:creationId xmlns:a16="http://schemas.microsoft.com/office/drawing/2014/main" id="{608B3BC6-1A35-4607-9423-90CA5654826C}"/>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8B4A4A"/>
                </a:solidFill>
              </a:defRPr>
            </a:pPr>
            <a:r>
              <a:rPr sz="1050" b="1">
                <a:solidFill>
                  <a:srgbClr val="8B4A4A"/>
                </a:solidFill>
              </a:rPr>
              <a:t>SECTION 04</a:t>
            </a:r>
          </a:p>
        </p:txBody>
      </p:sp>
      <p:sp>
        <p:nvSpPr>
          <p:cNvPr id="5" name="">
            <a:extLst xmlns:a="http://schemas.openxmlformats.org/drawingml/2006/main">
              <a:ext uri="{FF2B5EF4-FFF2-40B4-BE49-F238E27FC236}">
                <a16:creationId xmlns:a16="http://schemas.microsoft.com/office/drawing/2014/main" id="{F01FD1B0-58F5-4D96-A66C-4364B10877DA}"/>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Slides as a map of institutional memory</a:t>
            </a:r>
          </a:p>
        </p:txBody>
      </p:sp>
      <p:sp>
        <p:nvSpPr>
          <p:cNvPr id="6" name="">
            <a:extLst xmlns:a="http://schemas.openxmlformats.org/drawingml/2006/main">
              <a:ext uri="{FF2B5EF4-FFF2-40B4-BE49-F238E27FC236}">
                <a16:creationId xmlns:a16="http://schemas.microsoft.com/office/drawing/2014/main" id="{A8BE8DCB-04F1-463F-99D7-2345E80387DE}"/>
              </a:ext>
            </a:extLst>
          </p:cNvPr>
          <p:cNvSpPr>
            <a:spLocks xmlns:a="http://schemas.openxmlformats.org/drawingml/2006/main" noGrp="1"/>
          </p:cNvSpPr>
          <p:nvPr/>
        </p:nvSpPr>
        <p:spPr>
          <a:xfrm xmlns:a="http://schemas.openxmlformats.org/drawingml/2006/main">
            <a:off x="742950" y="1876425"/>
            <a:ext cx="9620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School records also reveal what public summaries omit. Class schedules, promotion registers, instructor appointments, and revised lesson plans show transmission as repeated work. Students enter at different times, teachers disagree, and requirements change. A canonical graph cannot preserve every local decision, but it can represent the institutions and practices that make those decisions possible. This middle scale connects individual biography to international regulation.</a:t>
            </a:r>
          </a:p>
        </p:txBody>
      </p:sp>
    </p:spTree>
    <p:extLst>
      <p:ext uri="{BB962C8B-B14F-4D97-AF65-F5344CB8AC3E}">
        <p14:creationId xmlns:p14="http://schemas.microsoft.com/office/powerpoint/2010/main" val="17757845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EF3BF3-C3F0-42FE-AE57-32007F240D1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B4A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17FE2A-7BBB-4E9C-9B51-ED99E8699487}"/>
              </a:ext>
            </a:extLst>
          </p:cNvPr>
          <p:cNvSpPr>
            <a:spLocks xmlns:a="http://schemas.openxmlformats.org/drawingml/2006/main" noGrp="1"/>
          </p:cNvSpPr>
          <p:nvPr/>
        </p:nvSpPr>
        <p:spPr>
          <a:xfrm xmlns:a="http://schemas.openxmlformats.org/drawingml/2006/main">
            <a:off x="723900" y="6191250"/>
            <a:ext cx="10744200" cy="0"/>
          </a:xfrm>
          <a:prstGeom xmlns:a="http://schemas.openxmlformats.org/drawingml/2006/main" prst="line">
            <a:avLst/>
          </a:prstGeom>
          <a:noFill xmlns:a="http://schemas.openxmlformats.org/drawingml/2006/main"/>
          <a:ln xmlns:a="http://schemas.openxmlformats.org/drawingml/2006/main" w="9525">
            <a:solidFill>
              <a:srgbClr val="B8C3CC"/>
            </a:solidFill>
            <a:prstDash val="solid"/>
          </a:ln>
        </p:spPr>
      </p:sp>
      <p:sp>
        <p:nvSpPr>
          <p:cNvPr id="3" name="">
            <a:extLst xmlns:a="http://schemas.openxmlformats.org/drawingml/2006/main">
              <a:ext uri="{FF2B5EF4-FFF2-40B4-BE49-F238E27FC236}">
                <a16:creationId xmlns:a16="http://schemas.microsoft.com/office/drawing/2014/main" id="{750C4A30-536E-4A25-AE15-04655D2C5615}"/>
              </a:ext>
            </a:extLst>
          </p:cNvPr>
          <p:cNvSpPr>
            <a:spLocks xmlns:a="http://schemas.openxmlformats.org/drawingml/2006/main" noGrp="1"/>
          </p:cNvSpPr>
          <p:nvPr/>
        </p:nvSpPr>
        <p:spPr>
          <a:xfrm xmlns:a="http://schemas.openxmlformats.org/drawingml/2006/main">
            <a:off x="10744200" y="62674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5D6B78"/>
                </a:solidFill>
              </a:defRPr>
            </a:pPr>
            <a:r>
              <a:rPr sz="975">
                <a:solidFill>
                  <a:srgbClr val="5D6B78"/>
                </a:solidFill>
              </a:rPr>
              <a:t>11</a:t>
            </a:r>
          </a:p>
        </p:txBody>
      </p:sp>
      <p:sp>
        <p:nvSpPr>
          <p:cNvPr id="4" name="">
            <a:extLst xmlns:a="http://schemas.openxmlformats.org/drawingml/2006/main">
              <a:ext uri="{FF2B5EF4-FFF2-40B4-BE49-F238E27FC236}">
                <a16:creationId xmlns:a16="http://schemas.microsoft.com/office/drawing/2014/main" id="{9AD99963-35B5-42E8-BF07-E98F0EA9E307}"/>
              </a:ext>
            </a:extLst>
          </p:cNvPr>
          <p:cNvSpPr>
            <a:spLocks xmlns:a="http://schemas.openxmlformats.org/drawingml/2006/main" noGrp="1"/>
          </p:cNvSpPr>
          <p:nvPr/>
        </p:nvSpPr>
        <p:spPr>
          <a:xfrm xmlns:a="http://schemas.openxmlformats.org/drawingml/2006/main">
            <a:off x="742950" y="55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8B4A4A"/>
                </a:solidFill>
              </a:defRPr>
            </a:pPr>
            <a:r>
              <a:rPr sz="1050" b="1">
                <a:solidFill>
                  <a:srgbClr val="8B4A4A"/>
                </a:solidFill>
              </a:rPr>
              <a:t>SECTION 04</a:t>
            </a:r>
          </a:p>
        </p:txBody>
      </p:sp>
      <p:sp>
        <p:nvSpPr>
          <p:cNvPr id="5" name="">
            <a:extLst xmlns:a="http://schemas.openxmlformats.org/drawingml/2006/main">
              <a:ext uri="{FF2B5EF4-FFF2-40B4-BE49-F238E27FC236}">
                <a16:creationId xmlns:a16="http://schemas.microsoft.com/office/drawing/2014/main" id="{F4B7A798-4699-49EC-8FA7-614AF1A996C8}"/>
              </a:ext>
            </a:extLst>
          </p:cNvPr>
          <p:cNvSpPr>
            <a:spLocks xmlns:a="http://schemas.openxmlformats.org/drawingml/2006/main" noGrp="1"/>
          </p:cNvSpPr>
          <p:nvPr/>
        </p:nvSpPr>
        <p:spPr>
          <a:xfrm xmlns:a="http://schemas.openxmlformats.org/drawingml/2006/main">
            <a:off x="742950" y="942975"/>
            <a:ext cx="885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5212B"/>
                </a:solidFill>
              </a:defRPr>
            </a:pPr>
            <a:r>
              <a:rPr sz="2925" b="1">
                <a:solidFill>
                  <a:srgbClr val="15212B"/>
                </a:solidFill>
              </a:rPr>
              <a:t>Slides as a map of institutional memory</a:t>
            </a:r>
          </a:p>
        </p:txBody>
      </p:sp>
      <p:sp>
        <p:nvSpPr>
          <p:cNvPr id="6" name="">
            <a:extLst xmlns:a="http://schemas.openxmlformats.org/drawingml/2006/main">
              <a:ext uri="{FF2B5EF4-FFF2-40B4-BE49-F238E27FC236}">
                <a16:creationId xmlns:a16="http://schemas.microsoft.com/office/drawing/2014/main" id="{F4098B78-8FB6-466B-98E8-11D34AD07165}"/>
              </a:ext>
            </a:extLst>
          </p:cNvPr>
          <p:cNvSpPr>
            <a:spLocks xmlns:a="http://schemas.openxmlformats.org/drawingml/2006/main" noGrp="1"/>
          </p:cNvSpPr>
          <p:nvPr/>
        </p:nvSpPr>
        <p:spPr>
          <a:xfrm xmlns:a="http://schemas.openxmlformats.org/drawingml/2006/main">
            <a:off x="742950" y="1876425"/>
            <a:ext cx="96202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650">
                <a:solidFill>
                  <a:srgbClr val="15212B"/>
                </a:solidFill>
              </a:defRPr>
            </a:pPr>
            <a:r>
              <a:rPr sz="1650">
                <a:solidFill>
                  <a:srgbClr val="15212B"/>
                </a:solidFill>
              </a:rPr>
              <a:t>Reviewers should therefore resist treating institutional continuity as technical uniformity. A school may retain its name while modifying drills, and two schools may teach related material under different labels. The corpus favors claims with named actors, places, works, or practices over broad statements about timeless essence. That preference makes generated documents more useful for extraction tests and more responsible as short historical introductions.</a:t>
            </a:r>
          </a:p>
        </p:txBody>
      </p:sp>
    </p:spTree>
    <p:extLst>
      <p:ext uri="{BB962C8B-B14F-4D97-AF65-F5344CB8AC3E}">
        <p14:creationId xmlns:p14="http://schemas.microsoft.com/office/powerpoint/2010/main" val="5831052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2026-07-11T07:31:17.6210000Z</dcterms:created>
  <dcterms:modified xsi:type="dcterms:W3CDTF">2026-07-11T07:31:17.6210000Z</dcterms:modified>
</coreProperties>
</file>